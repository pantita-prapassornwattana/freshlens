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fb7a226a414837" /><Relationship Type="http://schemas.openxmlformats.org/officeDocument/2006/relationships/extended-properties" Target="/docProps/app.xml" Id="Rade55c2280b44d9c" /><Relationship Type="http://schemas.openxmlformats.org/officeDocument/2006/relationships/officeDocument" Target="/ppt/presentation.xml" Id="R2ca3bf3e47b64c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41c3928ac84d51"/>
  </p:sldMasterIdLst>
  <p:notesMasterIdLst>
    <p:notesMasterId xmlns:r="http://schemas.openxmlformats.org/officeDocument/2006/relationships" r:id="Raf10577c331d46a5"/>
  </p:notesMasterIdLst>
  <p:sldIdLst>
    <p:sldId xmlns:r="http://schemas.openxmlformats.org/officeDocument/2006/relationships" id="256" r:id="R5087a8ea557e4dd7"/>
    <p:sldId xmlns:r="http://schemas.openxmlformats.org/officeDocument/2006/relationships" id="257" r:id="Rdaf6fae55bf14e89"/>
    <p:sldId xmlns:r="http://schemas.openxmlformats.org/officeDocument/2006/relationships" id="258" r:id="R7c44542713f24964"/>
    <p:sldId xmlns:r="http://schemas.openxmlformats.org/officeDocument/2006/relationships" id="259" r:id="R1253a9506e794fb7"/>
    <p:sldId xmlns:r="http://schemas.openxmlformats.org/officeDocument/2006/relationships" id="260" r:id="Ra810cf4ebecf4fcf"/>
    <p:sldId xmlns:r="http://schemas.openxmlformats.org/officeDocument/2006/relationships" id="261" r:id="Rdbb2df0b06924fde"/>
    <p:sldId xmlns:r="http://schemas.openxmlformats.org/officeDocument/2006/relationships" id="262" r:id="R55bf871da2514b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70dd63fa224973" /><Relationship Type="http://schemas.openxmlformats.org/officeDocument/2006/relationships/slideMaster" Target="/ppt/slideMasters/slideMaster1.xml" Id="R2741c3928ac84d51" /><Relationship Type="http://schemas.openxmlformats.org/officeDocument/2006/relationships/notesMaster" Target="/ppt/notesMasters/notesMaster1.xml" Id="Raf10577c331d46a5" /><Relationship Type="http://schemas.openxmlformats.org/officeDocument/2006/relationships/presProps" Target="/ppt/presProps.xml" Id="R34cd1f1e361f4bc1" /><Relationship Type="http://schemas.openxmlformats.org/officeDocument/2006/relationships/tableStyles" Target="/ppt/tableStyles.xml" Id="R88757c4a089d468a" /><Relationship Type="http://schemas.openxmlformats.org/officeDocument/2006/relationships/slide" Target="/ppt/slides/slide1.xml" Id="R5087a8ea557e4dd7" /><Relationship Type="http://schemas.openxmlformats.org/officeDocument/2006/relationships/slide" Target="/ppt/slides/slide2.xml" Id="Rdaf6fae55bf14e89" /><Relationship Type="http://schemas.openxmlformats.org/officeDocument/2006/relationships/slide" Target="/ppt/slides/slide3.xml" Id="R7c44542713f24964" /><Relationship Type="http://schemas.openxmlformats.org/officeDocument/2006/relationships/slide" Target="/ppt/slides/slide4.xml" Id="R1253a9506e794fb7" /><Relationship Type="http://schemas.openxmlformats.org/officeDocument/2006/relationships/slide" Target="/ppt/slides/slide5.xml" Id="Ra810cf4ebecf4fcf" /><Relationship Type="http://schemas.openxmlformats.org/officeDocument/2006/relationships/slide" Target="/ppt/slides/slide6.xml" Id="Rdbb2df0b06924fde" /><Relationship Type="http://schemas.openxmlformats.org/officeDocument/2006/relationships/slide" Target="/ppt/slides/slide7.xml" Id="R55bf871da2514b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b785a910c146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7502378bac4282" /><Relationship Type="http://schemas.openxmlformats.org/officeDocument/2006/relationships/notesMaster" Target="/ppt/notesMasters/notesMaster1.xml" Id="R40aa45cbbc6848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7bea72840f42ed" /><Relationship Type="http://schemas.openxmlformats.org/officeDocument/2006/relationships/notesMaster" Target="/ppt/notesMasters/notesMaster1.xml" Id="Raafe740bd2b647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62b56188694c4b" /><Relationship Type="http://schemas.openxmlformats.org/officeDocument/2006/relationships/notesMaster" Target="/ppt/notesMasters/notesMaster1.xml" Id="R3b9b8b2c18234a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fea1f1497046c8" /><Relationship Type="http://schemas.openxmlformats.org/officeDocument/2006/relationships/notesMaster" Target="/ppt/notesMasters/notesMaster1.xml" Id="R1c4a8e6ac1f440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a11958498b44e7" /><Relationship Type="http://schemas.openxmlformats.org/officeDocument/2006/relationships/notesMaster" Target="/ppt/notesMasters/notesMaster1.xml" Id="R827f217fc9d444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753861ca414120" /><Relationship Type="http://schemas.openxmlformats.org/officeDocument/2006/relationships/notesMaster" Target="/ppt/notesMasters/notesMaster1.xml" Id="Rb4d8c222fcb74f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cee1cc10784c4b" /><Relationship Type="http://schemas.openxmlformats.org/officeDocument/2006/relationships/notesMaster" Target="/ppt/notesMasters/notesMaster1.xml" Id="R923045aa0f264f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FreshLens เป็นเว็บตรวจจับวัตถุผักและผลไม้จากภาพนิ่ง พัฒนาและประเมินในรายวิชา 240-318 Artificial Intelligence &amp; Machine Learning โดย ปัณฑิตา ประภัสสรวัฒนา.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ภาพสาธิตนำมาจากตัวอย่าง banana ในชุด Combined Vegetables &amp; Fruits v8 บน Roboflow Universe (CC BY 4.0). โฟลวอิงจากรายงาน FreshLens และการทำงานของเว็บจริง. URL: https://universe.roboflow.com/yolo-jpkho/combined-vegetables-fruits/dataset/8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Dataset: Roboflow Universe, Combined Vegetables &amp; Fruits v8, 41,985 images, 47 classes, split train 34,008 / validation 4,619 / test 3,358. This dataset was not used to fine-tune model weights in this project. Model candidate F1 values on 108 validation images: YOLOv8s-World v2 4.77%, YOLOv8m-World v2 7.28%, YOLOE-11s 6.40%, Fruits &amp; Vegetables YOLOv8m 39.36%. Model source: Henning Heyen, Fruits-And-Vegetables-Detection-Dataset https://github.com/henningheyen/Fruits-And-Vegetables-Detection-Dataset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selected production configuration uses three pretrained members: fruit_vegetable_yolov8m.pt at confidence 0.25, fruit_vegetable_v3.pt at 0.50, and produce35_yolo11m.pt at 0.50 with 25 active classes. Class aliases are mapped to canonical names. Supplement predictions overlapping the primary model above IoU 0.30 are rejected, then class-aware duplicate filtering uses IoU 0.45. This is prediction-level ensemble, not weight averaging or additional training. Sources: artifacts/supplement_final_test.json, artifacts/selected_model.json, docs/model_expansion_sources.md. Model cards: https://github.com/henningheyen/Fruits-And-Vegetables-Detection-Dataset and https://huggingface.co/Piyu12/fruit-veg-yolo11m-detector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Paired final test on identical 111 images / 2,409 ground-truth objects. Baseline: TP 925, FP 445, FN 1,484, Precision 67.52%, Recall 38.40%, F1 48.95%. Supplement system: TP 963, FP 510, FN 1,446, Precision 65.38%, Recall 39.98%, F1 49.61%. Changes: TP +38, FP +65, FN −38, Recall +1.58 percentage points, F1 +0.66 points, Precision −2.14 points. This is a small system-level improvement, not evidence that model weights learned better. Source: artifacts/supplement_final_test.json and docs/Mini_Project_FreshLens_Ready_to_SubmitV2.docx Table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Course concepts used in the project: neural networks and deep learning, CNN feature extraction, classification of each candidate box, regression of bounding-box coordinates, supervised learning embodied in previously trained checkpoints, and evaluation/configuration selection using validation plus a separate paired test. The project did not create or train a new model and did not update model weights. Source: report sections 3, 5, 7 and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System: frontend HTML/CSS/JavaScript, Python ThreadingHTTPServer at 127.0.0.1:8000, Ultralytics/PyTorch, CUDA when available. Browser automated checks: 8 passed, 0 failed. Median inference time was 116.3 ms per image across paired evaluation, excluding model loading, HTTP and browser rendering. Next steps come from report: audit annotations, collect real images from missed classes, fine-tune with per-epoch train/validation metrics, choose checkpoint by validation, and assess on an untouched external test. Source: report sections 6, 10, 11 and 12; artifacts/upgrade_browser_checks.json.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ed375728f543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606752d99d455a" /><Relationship Type="http://schemas.openxmlformats.org/officeDocument/2006/relationships/slideLayout" Target="/ppt/slideLayouts/slideLayout1.xml" Id="Rfe542ccc293c4f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542ccc293c4f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9345f04334afd" /><Relationship Type="http://schemas.openxmlformats.org/officeDocument/2006/relationships/notesSlide" Target="/ppt/notesSlides/notesSlide1.xml" Id="Rc25dbbd9c3514e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80911d3514703" /><Relationship Type="http://schemas.openxmlformats.org/officeDocument/2006/relationships/image" Target="/ppt/media/image.png" Id="R5b9d30d767da4059" /><Relationship Type="http://schemas.openxmlformats.org/officeDocument/2006/relationships/notesSlide" Target="/ppt/notesSlides/notesSlide2.xml" Id="Rb465e3552a6446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e64dce7364208" /><Relationship Type="http://schemas.openxmlformats.org/officeDocument/2006/relationships/notesSlide" Target="/ppt/notesSlides/notesSlide3.xml" Id="Red26e55415d74f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ce34adcd44983" /><Relationship Type="http://schemas.openxmlformats.org/officeDocument/2006/relationships/notesSlide" Target="/ppt/notesSlides/notesSlide4.xml" Id="Ref386fec69ed4e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1a7f596f7f4757" /><Relationship Type="http://schemas.openxmlformats.org/officeDocument/2006/relationships/notesSlide" Target="/ppt/notesSlides/notesSlide5.xml" Id="R8c6928b9e9bb43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5cf54e2ca41e0" /><Relationship Type="http://schemas.openxmlformats.org/officeDocument/2006/relationships/notesSlide" Target="/ppt/notesSlides/notesSlide6.xml" Id="Rbe77e8d3c91041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f5fe5620d4735" /><Relationship Type="http://schemas.openxmlformats.org/officeDocument/2006/relationships/notesSlide" Target="/ppt/notesSlides/notesSlide7.xml" Id="Ra212e987aad146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EE8F05-2375-413E-BE0F-4A6D1EE3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457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B4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9EC2CB-B09C-447C-8F50-1361FA8F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9334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0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52F87-6B52-4557-9B72-EC34E9D8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048000"/>
            <a:ext cx="1847850" cy="1847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84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D12DD-F6DC-4E42-8EF2-F509E255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19275"/>
            <a:ext cx="1371600" cy="1314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B5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E10E6-32E3-4EE1-A4B8-6F0E1EB4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819275"/>
            <a:ext cx="1371600" cy="1314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F4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06F3D-CCD9-4834-9DB6-A810238E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500000">
            <a:off x="9544050" y="1685925"/>
            <a:ext cx="59055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9B5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503405-7D1C-4467-A8E7-0B7A55A4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40000">
            <a:off x="9525000" y="1495425"/>
            <a:ext cx="9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53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1ACBC9-DD85-4FC6-8FAF-FB8567A1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47662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C96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629A4E-8335-42D3-8C41-35F2D98A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7909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4A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88CD12-45BE-4A5F-ACB1-BE92D770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67700" y="3752850"/>
            <a:ext cx="1066800" cy="1638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29A5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758915-0FAB-4AAB-8FE2-8056AFBA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500000">
            <a:off x="8020050" y="4267200"/>
            <a:ext cx="4191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9B5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8FB3C-38CE-4C4B-A17D-D1D419F7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">
            <a:off x="8239125" y="4143375"/>
            <a:ext cx="45720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B56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1D4FFA-B70B-46C6-A753-9226161B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12668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DBA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B137F0-0984-4D69-8912-8D843BA7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09550" cy="2095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05B4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AFF0B1-2644-481B-9025-0F94F5BE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5F7F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2478B2-6B3E-4D96-B5A0-599DFED8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5B40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205B40"/>
                </a:solidFill>
                <a:latin typeface="Segoe UI"/>
                <a:ea typeface="Segoe UI"/>
                <a:cs typeface="Segoe UI"/>
              </a:rPr>
              <a:t>FreshLens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FDBF28-F8E3-4314-BF33-8B684801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3333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4E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D9CC39-99C1-49D5-915E-2DB04992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5B40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205B40"/>
                </a:solidFill>
                <a:latin typeface="Segoe UI"/>
                <a:ea typeface="Segoe UI"/>
                <a:cs typeface="Segoe UI"/>
              </a:rPr>
              <a:t>MINI PROJECT  /  AI &amp; MACHINE LEARNING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44982F-9145-41E5-A66D-59C3A821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6381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รู้จักผักผลไม้</a:t>
            </a:r>
          </a:p>
          <a:p xmlns:a="http://schemas.openxmlformats.org/drawingml/2006/main">
            <a:pPr algn="l">
              <a:defRPr sz="4050" b="1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ผ่านสายตาของ 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6AF7AD-663E-4612-A6E5-81FE6F0F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619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เว็บตรวจจับผักและผลไม้หลายชิ้นจากภาพเดียว</a:t>
            </a:r>
          </a:p>
          <a:p xmlns:a="http://schemas.openxmlformats.org/drawingml/2006/main">
            <a:pPr algn="l">
              <a:defRPr sz="1650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แสดงชนิดและตำแหน่งกรอบบน localhost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3EE89F-3E91-4242-B411-D14BE46A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621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4D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A35904-094F-4A38-A172-C82CEA91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625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ปัณฑิตา ประภัสสรวัฒนา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E612E4-2843-452E-B2CF-EA3F0EDD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864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240-318 Artificial Intelligence &amp; Machine Learning  |  2569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FBA53D-FE44-4B41-BC3B-84256AE7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6007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กรอบตำแหน่ง พร้อมชนิดที่คาดการณ์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A7ACDA-D541-43C4-9F26-DF66ED90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5B4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05B40"/>
                </a:solidFill>
                <a:latin typeface="Segoe UI"/>
                <a:ea typeface="Segoe UI"/>
                <a:cs typeface="Segoe UI"/>
              </a:rPr>
              <a:t>FRESHLENS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8EB7CA-8BDC-45D2-8241-223C41D9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543955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8FD467-141B-4CB5-A80B-5B16D68D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9B5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6B9B55"/>
                </a:solidFill>
                <a:latin typeface="Segoe UI"/>
                <a:ea typeface="Segoe UI"/>
                <a:cs typeface="Segoe UI"/>
              </a:rPr>
              <a:t>01 / ชิ้นงาน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0B557E-9E55-42F5-B39B-7D4B7547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ภาพเดียว ได้ตำแหน่งและชนิดของแต่ละชิ้น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88A19-FC79-42B9-96C6-6EE7F3CB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FreshLens รับภาพนิ่งแล้ววาดกรอบรอบวัตถุ พร้อมชื่อคลาสและคะแนน confidence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5307A-02E9-477A-A34E-99616DF2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38325"/>
            <a:ext cx="1809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4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DD185-643C-4C73-8822-690DB094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5B40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205B40"/>
                </a:solidFill>
                <a:latin typeface="Segoe UI"/>
                <a:ea typeface="Segoe UI"/>
                <a:cs typeface="Segoe UI"/>
              </a:rPr>
              <a:t>ตัวอย่างจากหน้าเว็บจริง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9d30d767da4059"/>
          <a:srcRect xmlns:a="http://schemas.openxmlformats.org/drawingml/2006/main" l="0" t="12906" r="0" b="129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209800"/>
            <a:ext cx="3714750" cy="2952750"/>
          </a:xfrm>
          <a:prstGeom xmlns:a="http://schemas.openxmlformats.org/drawingml/2006/main" prst="roundRect">
            <a:avLst>
              <a:gd name="adj" fmla="val 580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25769-F15C-4A41-98A4-00E8A837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5B40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05B40"/>
                </a:solidFill>
                <a:latin typeface="Segoe UI"/>
                <a:ea typeface="Segoe UI"/>
                <a:cs typeface="Segoe UI"/>
              </a:rPr>
              <a:t>banana  ·  0.96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19C502-FF5D-4878-84D9-911DC330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5307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ค่าความมั่นใจเป็นคะแนนของโมเดล</a:t>
            </a:r>
          </a:p>
          <a:p xmlns:a="http://schemas.openxmlformats.org/drawingml/2006/main">
            <a:pPr algn="l">
              <a:defRPr sz="1050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ใช้กรองผล ไม่ใช่การรับรองความถูกต้อง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0EF885-6517-4854-8C25-B55C837F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717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4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4C03FA-9DD0-423D-9349-D0E69FC6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57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5B40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205B40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98D6F5-B749-435E-96D1-89FA5F01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3241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เลือกภาพ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DD078E-07D6-411D-9C5B-D12E3525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609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JPG / PNG / WebP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E2DCF2-573A-4710-8949-1909C5ED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7908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4D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F2EE0D-F44E-4A3B-8A2A-83CE5BA2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14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4E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047CC1-3647-4D6A-AE61-B19F7E60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00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5B40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205B40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31F88C-CCDB-45ED-8DFA-9A0A135F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670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เตรียมภาพ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71E550-DC6E-446F-875E-18B3217A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528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อ่าน EXIF และแปลง RGB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6020A0-099B-4610-811A-02F6F455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5337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4D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3F1C91-B7E7-46AE-9D6D-0131C377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57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4E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201E9C-00E4-4924-963C-1232C1A8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433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5B40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205B40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83CBFF-421B-40C0-A254-42ACB14B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810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ตรวจจับ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EFFAD4-15A3-4178-A422-A4D89D8C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095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YOLOv8m + detector เสริม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813F03-9E2E-4410-A7CD-8C7198E8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2767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4D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6634C6-4AA4-4153-AAC1-DE9EACC3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005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4E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01F4AE-4F85-4C49-95BA-2EFBD35A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863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5B40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205B40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03B274-2278-4F39-AB40-8BC62F48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552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รวมกรอบ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315F50-3455-4D34-A144-654033E8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8387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กรองคะแนนและกรอบซ้ำ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16A94E-366B-4F9B-AD55-37EE8F41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50196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4D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7B09F3-FA24-4265-B550-467D5B85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435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5B40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285DFC-D41C-42BA-9EB2-2905820A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4292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9DA5E9-A8AB-47FE-ABA3-5F95C958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2959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แสดงผล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0A96B5-6FD6-46B5-AC98-F291FA7E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581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กรอบ ชนิด และ confidence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C75FF3-EDF9-44A9-B8A0-D5D57B9F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115050"/>
            <a:ext cx="64770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9B55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721096-F03B-47D6-AD76-8C8BC070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1912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5B4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205B40"/>
                </a:solidFill>
                <a:latin typeface="Segoe UI"/>
                <a:ea typeface="Segoe UI"/>
                <a:cs typeface="Segoe UI"/>
              </a:rPr>
              <a:t>รันบนเครื่องผู้ใช้ที่ http://localhost:8000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3A70A3-3E0F-4EB9-9420-5D646E07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FRESHLENS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30DE43-1162-42F9-9A5B-1C887C24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326113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58B43A-CA4B-4C41-9163-AA9CB891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9B5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6B9B55"/>
                </a:solidFill>
                <a:latin typeface="Segoe UI"/>
                <a:ea typeface="Segoe UI"/>
                <a:cs typeface="Segoe UI"/>
              </a:rPr>
              <a:t>02 / ข้อมูลและการเลือกโมเดล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C364A2-3B73-46D7-A522-798A0832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เราเลือกโมเดลจากผล validation ที่วัดได้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00B4C-EF6C-470E-A81D-FDC5631B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ชุดข้อมูลช่วยประเมินและเปรียบเทียบ ส่วน checkpoint หลักผ่านการฝึกมาก่อน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2691A3-FF28-43DE-B5C1-918655F8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3200400" cy="360045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727DDA-7A64-4E3C-8B13-F5F0B105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9B5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6B9B55"/>
                </a:solidFill>
                <a:latin typeface="Segoe UI"/>
                <a:ea typeface="Segoe UI"/>
                <a:cs typeface="Segoe UI"/>
              </a:rPr>
              <a:t>ROBOFLOW UNIVERSE  /  V8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71AFDB-2CD9-47CF-A61C-FB66A7D8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05B40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205B40"/>
                </a:solidFill>
                <a:latin typeface="Segoe UI"/>
                <a:ea typeface="Segoe UI"/>
                <a:cs typeface="Segoe UI"/>
              </a:rPr>
              <a:t>41,985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761EA-3F45-465B-8C8D-97DB3CB8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24225"/>
            <a:ext cx="261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ภาพทั้งหมด  ·  47 classes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7E85A-F2D4-4CE2-BBED-491A29CF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43325"/>
            <a:ext cx="264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D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C5A563-8FBA-44CC-ACA8-94FA4D0A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34,008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A5F8DB-7465-46E8-8E98-D1892280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576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train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416C1E-7887-4988-8ABC-0F799115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9624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4,619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83E01F-F86B-4C5C-A020-92A1AC46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2576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2CD6D6-C031-4671-B8B1-EB0A40FF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9624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3,358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5E708E-2DC0-41A2-8349-E27C7732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5767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F7D624-5A53-4C94-8AAA-E804C7DF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26479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EDF4E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825B06-E40E-4C3E-987F-BDDC8D46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9650"/>
            <a:ext cx="2343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5B4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205B40"/>
                </a:solidFill>
                <a:latin typeface="Segoe UI"/>
                <a:ea typeface="Segoe UI"/>
                <a:cs typeface="Segoe UI"/>
              </a:rPr>
              <a:t>ในงานนี้ใช้ภาพมี annotation</a:t>
            </a:r>
          </a:p>
          <a:p xmlns:a="http://schemas.openxmlformats.org/drawingml/2006/main">
            <a:pPr algn="l">
              <a:defRPr sz="1125" b="1">
                <a:solidFill>
                  <a:srgbClr val="205B4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205B40"/>
                </a:solidFill>
                <a:latin typeface="Segoe UI"/>
                <a:ea typeface="Segoe UI"/>
                <a:cs typeface="Segoe UI"/>
              </a:rPr>
              <a:t>เพื่อประเมินผล ไม่ได้ fine-tune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5405E2-0DEF-455E-B8D2-6ACEB087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14550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F1 บน validation 108 ภาพ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5EE767-B91D-4E33-8EF8-2C8F5FF9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47925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ยิ่งสูงยิ่งสมดุลระหว่าง Precision และ Recall ในชุดภาพที่วัด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F8EBE8-3A46-42B9-BC38-7F1B9E2B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8610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YOLOv8s-World v2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0C4E04-4153-4C34-9D4D-EE1DE345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76575"/>
            <a:ext cx="33337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E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20BE63-4E83-4AC8-A519-46743059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76575"/>
            <a:ext cx="378619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4D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BF8881-6E30-4776-B671-0F40E088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575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4.77%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A3F100-6D9A-4C79-89A8-5D73C4FF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86175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YOLOv8m-World v2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C06709-A169-46B9-99F0-0DFE7991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76650"/>
            <a:ext cx="33337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E3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AE664A-AE20-494C-AE99-4603A181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76650"/>
            <a:ext cx="5778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C5A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01A004-186D-4D35-A7EF-F55AABCD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576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7.28%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825484-FDBD-4CA8-9160-381C92FE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8625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YOLOE-11s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7EDA65-C0F1-41A0-BEC2-D734FF7B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76725"/>
            <a:ext cx="33337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E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C5EB41-4348-41FA-B7BD-5131C726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76725"/>
            <a:ext cx="5080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5AA7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B7715D-9BEB-4041-A1AC-56688D28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576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6.40%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C70E96-3578-495D-B9B5-BC9469FC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10125"/>
            <a:ext cx="2266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Fruits &amp; Vegetables</a:t>
            </a:r>
          </a:p>
          <a:p xmlns:a="http://schemas.openxmlformats.org/drawingml/2006/main">
            <a:pPr algn="l">
              <a:defRPr sz="1275" b="1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YOLOv8m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F681F2-6C76-4CD8-86A6-CDAA757A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76800"/>
            <a:ext cx="33337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E3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F4568C-1338-4AC0-B55A-FEBB13F9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76800"/>
            <a:ext cx="31242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5B40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1BC197-CB27-4143-AF22-CC8A53E5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577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5B4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205B40"/>
                </a:solidFill>
                <a:latin typeface="Segoe UI"/>
                <a:ea typeface="Segoe UI"/>
                <a:cs typeface="Segoe UI"/>
              </a:rPr>
              <a:t>39.36%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57EF8E-6337-483F-8279-E2943092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467350"/>
            <a:ext cx="7048500" cy="495300"/>
          </a:xfrm>
          <a:prstGeom xmlns:a="http://schemas.openxmlformats.org/drawingml/2006/main" prst="roundRect">
            <a:avLst>
              <a:gd name="adj" fmla="val 28846"/>
            </a:avLst>
          </a:prstGeom>
          <a:solidFill xmlns:a="http://schemas.openxmlformats.org/drawingml/2006/main">
            <a:srgbClr val="205B40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865417-55F2-451B-A6DA-DA1D4BDB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007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เลือก YOLOv8m เฉพาะทางผักผลไม้ เพราะ F1 สูงสุดใน 4 ตัวเลือกที่ทดสอบ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4F3667-30F7-431C-824D-9400A347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752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แหล่งข้อมูล: Combined Vegetables &amp; Fruits v8, Roboflow Universe · CC BY 4.0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55B15F-C326-4193-A294-6213221A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FRESHLENS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ED36AC-735B-4DC1-AFC9-381B5071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201854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4B62EE-81CE-4883-BA36-840B592C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9B5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6B9B55"/>
                </a:solidFill>
                <a:latin typeface="Segoe UI"/>
                <a:ea typeface="Segoe UI"/>
                <a:cs typeface="Segoe UI"/>
              </a:rPr>
              <a:t>03 / หลักการตรวจจับหลายชนิด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B167D-B365-4ADA-B07D-E84CD564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สาม detector ช่วยเพิ่มโอกาสพบวัตถุ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77C22A-EFA8-43B2-8E18-7E0DF95D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แต่ละตัวเสนอกรอบและคลาส จากนั้นระบบ map ชื่อและคัดกรองกรอบซ้ำ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F535C-FF85-4C29-8183-14FF8F3F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095500" cy="12954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EDF4E7"/>
          </a:solidFill>
          <a:ln xmlns:a="http://schemas.openxmlformats.org/drawingml/2006/main" w="9525">
            <a:solidFill>
              <a:srgbClr val="DCE4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165F0B-7EF6-4A37-8D8C-896C96CF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0955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5B4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335777-02F3-4C04-AC67-F6E60D8A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5B4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205B40"/>
                </a:solidFill>
                <a:latin typeface="Segoe UI"/>
                <a:ea typeface="Segoe UI"/>
                <a:cs typeface="Segoe UI"/>
              </a:rPr>
              <a:t>โมเดลหลัก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D0AB0-FC39-43BD-9445-DAC47F9E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76525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Fruits &amp; Vegetables</a:t>
            </a:r>
          </a:p>
          <a:p xmlns:a="http://schemas.openxmlformats.org/drawingml/2006/main">
            <a:pPr algn="l">
              <a:defRPr sz="1350" b="1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YOLOv8m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1C3353-6B10-4BFD-9D2D-F5709AAA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63 classes  ·  conf ≥ 0.25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2E5FD-04C8-4796-B02A-B71F4DC7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2095500" cy="12954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4F6EE"/>
          </a:solidFill>
          <a:ln xmlns:a="http://schemas.openxmlformats.org/drawingml/2006/main" w="9525">
            <a:solidFill>
              <a:srgbClr val="DCE4D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B9C46D-ADF6-4D71-A55E-F2E0D543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20955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9B5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DCC4CF-9123-4A1B-A3A3-8DB7644B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003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9B5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6B9B55"/>
                </a:solidFill>
                <a:latin typeface="Segoe UI"/>
                <a:ea typeface="Segoe UI"/>
                <a:cs typeface="Segoe UI"/>
              </a:rPr>
              <a:t>ตัวเสริม 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7E3BD1-16AD-4733-AA7F-69059DED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76525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Fruits &amp; Vegetables</a:t>
            </a:r>
          </a:p>
          <a:p xmlns:a="http://schemas.openxmlformats.org/drawingml/2006/main">
            <a:pPr algn="l">
              <a:defRPr sz="1350" b="1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YOLOv8m v3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FED942-B800-43C1-8116-1857B9F3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90875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conf ≥ 0.50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ABE00D-F9DF-4B93-B6E8-01F9D96D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190750"/>
            <a:ext cx="2095500" cy="12954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4F6EE"/>
          </a:solidFill>
          <a:ln xmlns:a="http://schemas.openxmlformats.org/drawingml/2006/main" w="9525">
            <a:solidFill>
              <a:srgbClr val="DCE4D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2618D6-8414-4599-A5B0-5F8645CF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190750"/>
            <a:ext cx="20955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9B5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57FCAD-FDA1-49AA-B6A3-B392FE31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003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9B5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6B9B55"/>
                </a:solidFill>
                <a:latin typeface="Segoe UI"/>
                <a:ea typeface="Segoe UI"/>
                <a:cs typeface="Segoe UI"/>
              </a:rPr>
              <a:t>ตัวเสริม 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4C2599-84F4-44F2-8B0B-324B0B9D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76525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Produce YOLO11m</a:t>
            </a:r>
          </a:p>
          <a:p xmlns:a="http://schemas.openxmlformats.org/drawingml/2006/main">
            <a:pPr algn="l">
              <a:defRPr sz="1350" b="1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35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08B62F-1B5A-443D-979D-D396373E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90875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25 active classes  ·  conf ≥ 0.50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E89B19-E617-4F84-B1FE-42683A75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724150"/>
            <a:ext cx="4000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9B5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62BCF1-25FD-467A-9128-697D6CC0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33600"/>
            <a:ext cx="30289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05B4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A2020F-F6E6-4AF6-93B4-4CAAF21C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71725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รวมผลและคัดกรอง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D93675-B352-4244-929E-8D6BBC40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4F0E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E4F0E3"/>
                </a:solidFill>
                <a:latin typeface="Segoe UI"/>
                <a:ea typeface="Segoe UI"/>
                <a:cs typeface="Segoe UI"/>
              </a:rPr>
              <a:t>map ชื่อเป็นคลาสกลาง</a:t>
            </a:r>
          </a:p>
          <a:p xmlns:a="http://schemas.openxmlformats.org/drawingml/2006/main">
            <a:pPr algn="l">
              <a:defRPr sz="1200" b="0">
                <a:solidFill>
                  <a:srgbClr val="E4F0E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E4F0E3"/>
                </a:solidFill>
                <a:latin typeface="Segoe UI"/>
                <a:ea typeface="Segoe UI"/>
                <a:cs typeface="Segoe UI"/>
              </a:rPr>
              <a:t>ตัดกรอบซ้ำแบบ class-aware</a:t>
            </a:r>
          </a:p>
          <a:p xmlns:a="http://schemas.openxmlformats.org/drawingml/2006/main">
            <a:pPr algn="l">
              <a:defRPr sz="1200" b="0">
                <a:solidFill>
                  <a:srgbClr val="E4F0E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E4F0E3"/>
                </a:solidFill>
                <a:latin typeface="Segoe UI"/>
                <a:ea typeface="Segoe UI"/>
                <a:cs typeface="Segoe UI"/>
              </a:rPr>
              <a:t>IoU ซ้ำ 0.45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D29131-5206-4642-8D69-01291CD0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ตัวอย่างการ map label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0F7838-7691-4ABD-AC39-304739EF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257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4E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9A2130-0305-48B0-B4E1-08BDFE69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00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5B4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205B40"/>
                </a:solidFill>
                <a:latin typeface="Segoe UI"/>
                <a:ea typeface="Segoe UI"/>
                <a:cs typeface="Segoe UI"/>
              </a:rPr>
              <a:t>Capsicum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9A7D0B-1800-4B69-B9EE-BE4A851E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429125"/>
            <a:ext cx="4000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9B5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51DBDD-2AC5-4617-9029-A1E0EEBE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62450"/>
            <a:ext cx="14097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4E7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DFB90D-E826-450C-8159-0ACFB3B7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10075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5B4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205B40"/>
                </a:solidFill>
                <a:latin typeface="Segoe UI"/>
                <a:ea typeface="Segoe UI"/>
                <a:cs typeface="Segoe UI"/>
              </a:rPr>
              <a:t>bell pepper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9D3964-FD25-461B-AAA0-AEAF80F0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362450"/>
            <a:ext cx="952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0D7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ECE2AD-F12E-4588-9186-1D7B7851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4100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D672A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7D672A"/>
                </a:solidFill>
                <a:latin typeface="Segoe UI"/>
                <a:ea typeface="Segoe UI"/>
                <a:cs typeface="Segoe UI"/>
              </a:rPr>
              <a:t>Maize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5132B3-49A5-455A-A369-592C6A45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429125"/>
            <a:ext cx="4000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9B55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CCEB43-893D-445C-946B-04D5DE70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62450"/>
            <a:ext cx="838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0D7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61A3D4-DF66-4EED-B082-4F1CA832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41007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D672A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7D672A"/>
                </a:solidFill>
                <a:latin typeface="Segoe UI"/>
                <a:ea typeface="Segoe UI"/>
                <a:cs typeface="Segoe UI"/>
              </a:rPr>
              <a:t>corn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DEA2AD-6FAA-4958-A275-5D64EB8A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34700" cy="8001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F7F1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5985ED-DA9B-4B42-8FB6-B67002B1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5B40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205B40"/>
                </a:solidFill>
                <a:latin typeface="Segoe UI"/>
                <a:ea typeface="Segoe UI"/>
                <a:cs typeface="Segoe UI"/>
              </a:rPr>
              <a:t>เหตุผลที่ตรวจได้หลายชนิด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C6A2F6-9738-487C-B679-06AB6F47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200650"/>
            <a:ext cx="7810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ใช้ detector ที่มีชุดคลาสผักผลไม้กว้าง แล้ว map ชื่อจากหลายแหล่งให้ตรงกัน ก่อนรับกรอบใหม่ที่ไม่ซ้ำกับโมเดลหลัก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F9CC36-CD1E-4324-9FB3-FC42F4CA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ค่าคัดกรองเป็น configuration ที่เลือกจาก validation ไม่ได้อัปเดตน้ำหนักโมเดล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1DC381-9F38-4273-A49F-7DCD98F8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FRESHLENS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05EE34-AF1F-4ABB-8BC6-2C77DC13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245425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8A7C014-C312-4872-8254-9140A02D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9B5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6B9B55"/>
                </a:solidFill>
                <a:latin typeface="Segoe UI"/>
                <a:ea typeface="Segoe UI"/>
                <a:cs typeface="Segoe UI"/>
              </a:rPr>
              <a:t>04 / ผลที่วัดได้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308FB-D28B-4146-98EA-CA680C7B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ระบบเสริมเพิ่ม Recall และ F1 เล็กน้อย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B9704-F500-4A18-B2A9-EC6EA6D3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เปรียบเทียบ baseline กับระบบเสริมบนภาพชุดเดียวกัน 111 ภาพ และวัตถุจริง 2,409 ชิ้น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094929-000E-4909-A1DC-BF748723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8383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แกนกราฟ 0–70%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C9E21-26AA-4730-895A-70921CF3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145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Precision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930AB2-8606-43FD-9489-12B700CB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149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4D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A295E-0648-4DFD-AEC7-E5C08784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46640"/>
            <a:ext cx="723900" cy="216826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9EB79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BA9DA8-8C89-4450-A5CE-6D09A57D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15361"/>
            <a:ext cx="723900" cy="2099539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205B4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66FC5-C69F-4622-A63F-C7CB61B3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70415"/>
            <a:ext cx="990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67.52%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9B834F-40D9-46E1-A3FC-1B4EF995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539136"/>
            <a:ext cx="990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5B4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205B40"/>
                </a:solidFill>
                <a:latin typeface="Segoe UI"/>
                <a:ea typeface="Segoe UI"/>
                <a:cs typeface="Segoe UI"/>
              </a:rPr>
              <a:t>65.38%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3B79F1-4FA1-40EE-80B1-0063B4E5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9911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เดิม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5BAE0-86C6-4081-818B-944E4C4B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9911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5B40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205B40"/>
                </a:solidFill>
                <a:latin typeface="Segoe UI"/>
                <a:ea typeface="Segoe UI"/>
                <a:cs typeface="Segoe UI"/>
              </a:rPr>
              <a:t>ระบบเสริม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A6DE79-8AF3-45CD-88F9-E4FC3B93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391150"/>
            <a:ext cx="13906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9E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8B6DC1-26B8-4AB3-B17C-1C9E5777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43877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3473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A34735"/>
                </a:solidFill>
                <a:latin typeface="Segoe UI"/>
                <a:ea typeface="Segoe UI"/>
                <a:cs typeface="Segoe UI"/>
              </a:rPr>
              <a:t>−2.14 จุด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F9907A-B7C2-4D2F-A600-015EF292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72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กรอบผิดเพิ่ม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9CA9C9-7739-4506-A736-9E331A20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145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Recall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52B256-4E23-421A-84D5-053A5E3D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9149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4D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D59BA8-83DB-4D6C-8A82-E49654AD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81766"/>
            <a:ext cx="723900" cy="1233134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9EB79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CC6ACE-06B9-456D-9311-46150A9C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31028"/>
            <a:ext cx="723900" cy="1283872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205B4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B25B76-106F-49B7-990B-BD48DE8C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05541"/>
            <a:ext cx="990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38.40%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8ABEF8-5FC8-472B-80FF-96605FE7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54803"/>
            <a:ext cx="990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5B4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205B40"/>
                </a:solidFill>
                <a:latin typeface="Segoe UI"/>
                <a:ea typeface="Segoe UI"/>
                <a:cs typeface="Segoe UI"/>
              </a:rPr>
              <a:t>39.98%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E8BD9C-0087-4033-B9DA-22BC35BD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9911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เดิม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EC3634-FE47-44B3-B940-9B9A9B78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911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5B40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205B40"/>
                </a:solidFill>
                <a:latin typeface="Segoe UI"/>
                <a:ea typeface="Segoe UI"/>
                <a:cs typeface="Segoe UI"/>
              </a:rPr>
              <a:t>ระบบเสริม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858332-E943-471D-8F02-6F1322A0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391150"/>
            <a:ext cx="13906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4E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025F79-6D9E-4302-A27F-2E57A21C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43877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5B4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205B40"/>
                </a:solidFill>
                <a:latin typeface="Segoe UI"/>
                <a:ea typeface="Segoe UI"/>
                <a:cs typeface="Segoe UI"/>
              </a:rPr>
              <a:t>+1.58 จุด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437D99-2780-4B2C-A4AA-14FC687E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72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พลาดของจริงน้อยลง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925E2A-78BC-4B6B-BD9B-A37C180B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145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F1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A66012-0C12-4289-BCFC-834AE8BF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149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4D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D69516-949E-4F4F-ACF0-D7DFB679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42976"/>
            <a:ext cx="723900" cy="1571924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9EB790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680E8A-F128-49EF-A056-4693C641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21781"/>
            <a:ext cx="723900" cy="1593119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205B4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CBB0D2-2FCC-4DB4-9D19-2A96A99C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66751"/>
            <a:ext cx="990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48.95%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BACAAC-367A-44AB-850A-B8F31B6B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45556"/>
            <a:ext cx="990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5B4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205B40"/>
                </a:solidFill>
                <a:latin typeface="Segoe UI"/>
                <a:ea typeface="Segoe UI"/>
                <a:cs typeface="Segoe UI"/>
              </a:rPr>
              <a:t>49.61%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B31580-C5A4-4F74-B6F6-922DADD4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9911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เดิม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A9453B-6B2A-482C-8146-78207A02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9911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5B40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205B40"/>
                </a:solidFill>
                <a:latin typeface="Segoe UI"/>
                <a:ea typeface="Segoe UI"/>
                <a:cs typeface="Segoe UI"/>
              </a:rPr>
              <a:t>ระบบเสริม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B70F79-E5D1-4DC9-88FB-6F5DFFDE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391150"/>
            <a:ext cx="13906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4E7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2D53EE-3A8B-418D-BF0B-C7EFAAC4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43877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5B4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205B40"/>
                </a:solidFill>
                <a:latin typeface="Segoe UI"/>
                <a:ea typeface="Segoe UI"/>
                <a:cs typeface="Segoe UI"/>
              </a:rPr>
              <a:t>+0.66 จุด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54AA20-6D87-4C3D-911E-EAE9CC0E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772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ดีขึ้นเล็กน้อย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514DF2-4D48-48FA-842A-FE1D4982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EB790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3C2E52-7434-4B05-9C3D-4558B980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864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Baseline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768AA3-402C-49A9-85A3-3B85DE48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1531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5B40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63BC99-D11D-4073-B483-486C7FF2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0864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ระบบเสริม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F1C9493-75F3-433B-ABAC-35EEDA1B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FRESHLENS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304963C-96CB-45D2-BF2F-B1B34465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090157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DC3313-B5EE-4564-BA2F-9BD5A3B7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9B5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6B9B55"/>
                </a:solidFill>
                <a:latin typeface="Segoe UI"/>
                <a:ea typeface="Segoe UI"/>
                <a:cs typeface="Segoe UI"/>
              </a:rPr>
              <a:t>05 / เนื้อหาจากบทเรียน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BD204E-9A18-4C09-835A-8FB53767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แนวคิด AI เชื่อมกับงานคนละส่วน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87FE98-4268-44FF-88CE-AD261F67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ตั้งแต่การเห็นลักษณะภาพ ไปจนถึงการวัดว่าระบบที่ประกอบขึ้นทำงานดีขึ้นหรือไม่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AB93A3-F82B-49FC-9A7B-1F633FEF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2006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5F7F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9BA46-464B-4D97-A511-7644645E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5B4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72F528-AA08-467F-9C8D-3790E0FF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2EB973-906E-4363-B0A3-AD78957A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28850"/>
            <a:ext cx="422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Supervised Learning + Deep Learning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64CAF2-5B1C-4556-B02B-941628F3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33650"/>
            <a:ext cx="421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checkpoint เรียนรู้จากภาพติด label มาก่อน โครงการนี้ใช้ทำนายโดยไม่ฝึกเพิ่ม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EEEF29-0B90-4FDA-861D-AC229DB9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2006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5F7F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089116-C11A-459C-A8A2-66CD6700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9B5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DEDC0B-EE4E-44BE-920A-94056E6A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305BA9-3918-43B8-A5B3-78B4F93A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90900"/>
            <a:ext cx="422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CNN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DC4606-FBCC-4041-9BB5-A8A38337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95700"/>
            <a:ext cx="421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สกัดลักษณะเชิงพื้นที่ เช่น ขอบ รูปร่าง และ texture ของวัตถุ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1D6804-FCB1-465A-B892-9883F85A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52006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5F7F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9653F4-BF3D-40FD-9589-38CDCB4E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7C3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F6C29F-119F-490F-A16F-0EE3F25A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434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5630C6-66C2-4906-A2FD-CAAD16C2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52950"/>
            <a:ext cx="422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Classification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AF63FA-3198-4855-9F40-D5E58C6B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57750"/>
            <a:ext cx="421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กำหนดชื่อคลาสให้แต่ละกรอบ เช่น apple, carrot หรือ cabbage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6822A6-F7FF-49AE-8F85-9CC803AE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2578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5F7F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51A6A2-7433-4DB5-BE5D-A60AEE12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05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B4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103E2B-1E63-43A5-A6A3-D49D136A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193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785D64-5A56-4047-8E41-3D9CF8B4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288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Regression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489F0A-8978-46E0-8C07-9A34CA71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33650"/>
            <a:ext cx="426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ทำนายพิกัดและขนาด bounding box เพื่อระบุตำแหน่งวัตถุ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CA3625-6965-46CE-9B6A-0582BE88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38500"/>
            <a:ext cx="52578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DF4E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D5C0AD-0A53-4D8B-99F7-89515571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67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A3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EA983F-C1B4-4E67-8CBE-6A564C81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814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7FD089-B073-4DBB-BB6A-527BBBC7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909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Evaluation &amp; Optimization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E51EF7-123C-4A4E-915D-EA5AFB56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95700"/>
            <a:ext cx="426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เลือก checkpoint และ threshold ด้วย validation แล้ววัด paired test ด้วย Precision, Recall และ F1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A5EF8F-58A2-4005-AFE8-F9D10F13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00550"/>
            <a:ext cx="52578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205B40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2391F0-3FCE-4CC2-B8A0-1AE1A595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720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สิ่งที่ต้องแยกให้ชัด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C519A8-6A11-49AF-9EEB-3986107F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768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4F0E3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E4F0E3"/>
                </a:solidFill>
                <a:latin typeface="Segoe UI"/>
                <a:ea typeface="Segoe UI"/>
                <a:cs typeface="Segoe UI"/>
              </a:rPr>
              <a:t>เราไม่ได้ fine-tune น้ำหนักด้วย Dataset นี้</a:t>
            </a:r>
          </a:p>
          <a:p xmlns:a="http://schemas.openxmlformats.org/drawingml/2006/main">
            <a:pPr algn="l">
              <a:defRPr sz="1125" b="0">
                <a:solidFill>
                  <a:srgbClr val="E4F0E3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E4F0E3"/>
                </a:solidFill>
                <a:latin typeface="Segoe UI"/>
                <a:ea typeface="Segoe UI"/>
                <a:cs typeface="Segoe UI"/>
              </a:rPr>
              <a:t>การเปลี่ยนที่วัดได้มาจากการเลือกโมเดลและรวม prediction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DEF0A7-B607-4134-87D6-7A13E133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5B4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205B40"/>
                </a:solidFill>
                <a:latin typeface="Segoe UI"/>
                <a:ea typeface="Segoe UI"/>
                <a:cs typeface="Segoe UI"/>
              </a:rPr>
              <a:t>นำไปใช้จริง: checkpoint ที่ฝึกจากภาพติดป้ายกำกับ, classification, box regression และ paired test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DEAE83-6374-4D98-8123-C6A084C9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FRESHLENS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AACB18-5222-4CD0-AA29-9AB7DAD8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368480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05B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37CB0E-1A0F-4C90-ABC8-43CED9F2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D9A7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B9D9A7"/>
                </a:solidFill>
                <a:latin typeface="Segoe UI"/>
                <a:ea typeface="Segoe UI"/>
                <a:cs typeface="Segoe UI"/>
              </a:rPr>
              <a:t>06 / เว็บสาธิตและข้อสรุป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024FF-0AE9-4EAB-86A3-9E651FFD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เว็บรันได้จริงบน localhost</a:t>
            </a:r>
          </a:p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ผลพัฒนาดีขึ้นเล็กน้อย แต่ยังมีงานต่อ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AF7268-669C-4804-961F-9557D0A5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2860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1B5038"/>
          </a:solidFill>
          <a:ln xmlns:a="http://schemas.openxmlformats.org/drawingml/2006/main" w="9525">
            <a:solidFill>
              <a:srgbClr val="5B8A6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C81286-765D-4EA0-B5EE-3BAEDB1E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หน้าเว็บ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EACAA-C388-4623-9992-38E85799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8DDC5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8DDC5"/>
                </a:solidFill>
                <a:latin typeface="Segoe UI"/>
                <a:ea typeface="Segoe UI"/>
                <a:cs typeface="Segoe UI"/>
              </a:rPr>
              <a:t>HTML · CSS · JS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AA7BF-6133-4068-9578-D469FC10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9555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C8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D7087-C111-4EEF-B20A-6FDDD8F6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2860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1B5038"/>
          </a:solidFill>
          <a:ln xmlns:a="http://schemas.openxmlformats.org/drawingml/2006/main" w="9525">
            <a:solidFill>
              <a:srgbClr val="5B8A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F0366-1CF1-49AE-ADA6-2F45F8D9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Backend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3B8BC9-173B-42FA-A4E5-9691116A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38425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8DDC5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8DDC5"/>
                </a:solidFill>
                <a:latin typeface="Segoe UI"/>
                <a:ea typeface="Segoe UI"/>
                <a:cs typeface="Segoe UI"/>
              </a:rPr>
              <a:t>Python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50AEE5-33E1-4C4E-BB4A-06661493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9555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C8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63078D-37D6-4D89-9C65-30868C65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33600"/>
            <a:ext cx="22860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2D704F"/>
          </a:solidFill>
          <a:ln xmlns:a="http://schemas.openxmlformats.org/drawingml/2006/main" w="9525">
            <a:solidFill>
              <a:srgbClr val="5B8A6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7ABC3F-59AB-4D90-B310-B317F627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05050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A85B62-64FB-4EC9-9CBC-083A25A5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38425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8DDC5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8DDC5"/>
                </a:solidFill>
                <a:latin typeface="Segoe UI"/>
                <a:ea typeface="Segoe UI"/>
                <a:cs typeface="Segoe UI"/>
              </a:rPr>
              <a:t>YOLO ensemble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64BF26-E00D-4DB5-92AF-DE170D4C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9555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C8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923EB9-517B-45B7-98E4-BABE8C2F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33600"/>
            <a:ext cx="22860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1B5038"/>
          </a:solidFill>
          <a:ln xmlns:a="http://schemas.openxmlformats.org/drawingml/2006/main" w="9525">
            <a:solidFill>
              <a:srgbClr val="5B8A6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82D909-B742-437C-A577-4FAEBC7B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05050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ผลลัพธ์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A6F5A6-2197-4172-BAB9-00E952D7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38425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8DDC5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8DDC5"/>
                </a:solidFill>
                <a:latin typeface="Segoe UI"/>
                <a:ea typeface="Segoe UI"/>
                <a:cs typeface="Segoe UI"/>
              </a:rPr>
              <a:t>กรอบ + ชนิด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F715D0-1167-4168-A98D-0AA6432A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048250" cy="2266950"/>
          </a:xfrm>
          <a:prstGeom xmlns:a="http://schemas.openxmlformats.org/drawingml/2006/main" prst="roundRect">
            <a:avLst>
              <a:gd name="adj" fmla="val 84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44F9EF-096A-4167-8885-BE8C1291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ตรวจอะไรแล้วบ้าง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A66113-BE50-4EC5-80B9-663050DB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895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05B40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205B40"/>
                </a:solidFill>
                <a:latin typeface="Segoe UI"/>
                <a:ea typeface="Segoe UI"/>
                <a:cs typeface="Segoe UI"/>
              </a:rPr>
              <a:t>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580306-ED24-43C6-AAE0-EE2A870B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333875"/>
            <a:ext cx="3000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browser tests ผ่าน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92F534-0F9A-46C0-9D37-F4671EB7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67275"/>
            <a:ext cx="4410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D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062BEB-4BF3-4069-B548-9E1C7879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5B40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205B40"/>
                </a:solidFill>
                <a:latin typeface="Segoe UI"/>
                <a:ea typeface="Segoe UI"/>
                <a:cs typeface="Segoe UI"/>
              </a:rPr>
              <a:t>116.3 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CDD14D-9F32-42F1-9F3D-5B98C0AF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054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median inference / ภาพ¹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EC05FB-19DC-447A-B867-2D77C22A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36A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64736A"/>
                </a:solidFill>
                <a:latin typeface="Segoe UI"/>
                <a:ea typeface="Segoe UI"/>
                <a:cs typeface="Segoe UI"/>
              </a:rPr>
              <a:t>ผลทดสอบยืนยันการทำงานของเว็บ ไม่ได้ยืนยันความแม่นของทุกคลาส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B3D95F-3B4E-415A-A4A1-C2875160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29000"/>
            <a:ext cx="5581650" cy="2266950"/>
          </a:xfrm>
          <a:prstGeom xmlns:a="http://schemas.openxmlformats.org/drawingml/2006/main" prst="roundRect">
            <a:avLst>
              <a:gd name="adj" fmla="val 8403"/>
            </a:avLst>
          </a:prstGeom>
          <a:solidFill xmlns:a="http://schemas.openxmlformats.org/drawingml/2006/main">
            <a:srgbClr val="F3F7E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004CBA-CB4F-497B-BD94-B1DC6F04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766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5B40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205B40"/>
                </a:solidFill>
                <a:latin typeface="Segoe UI"/>
                <a:ea typeface="Segoe UI"/>
                <a:cs typeface="Segoe UI"/>
              </a:rPr>
              <a:t>ขั้นต่อไปเพื่อให้แม่นขึ้น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21D96E-D54A-406D-86A3-0FDBE09F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124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9B5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853AAB-8C93-4F5D-87B6-499E7086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38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เก็บภาพจริงของคลาสที่ระบบพลาดและตรวจ annotation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CC4A50-DDA0-44F2-B7B6-1B3D9B94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543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9B5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56682E-C875-4864-9B5E-66FA7CFB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57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fine-tune พร้อมบันทึก train / validation curves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D64E3A-1352-4348-B3B8-E6D7B942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962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9B55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9A92BE-FFFB-4A3F-B283-800C33A7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76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1362B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21362B"/>
                </a:solidFill>
                <a:latin typeface="Segoe UI"/>
                <a:ea typeface="Segoe UI"/>
                <a:cs typeface="Segoe UI"/>
              </a:rPr>
              <a:t>ทดสอบกับ external set ที่ไม่ใช้เลือกโมเดลหรือ threshold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03894A-29D2-4417-AA4E-64DE6910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9E7D5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D9E7D5"/>
                </a:solidFill>
                <a:latin typeface="Segoe UI"/>
                <a:ea typeface="Segoe UI"/>
                <a:cs typeface="Segoe UI"/>
              </a:rPr>
              <a:t>¹ เวลา inference จาก paired evaluation 111 ภาพ ไม่รวมโหลดโมเดลและการแสดงผลใน browser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A5641B-67F5-4ADD-B192-CB42B15E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ข้อสรุป: ระบบรวมผลช่วยพบวัตถุจริงเพิ่ม 38 ชิ้น และ F1 เพิ่ม 0.66 จุด แต่ FP ก็เพิ่ม 65 ครั้ง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202446-2F2B-40FC-B6F0-47C08FB1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E6D9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D8E6D9"/>
                </a:solidFill>
                <a:latin typeface="Segoe UI"/>
                <a:ea typeface="Segoe UI"/>
                <a:cs typeface="Segoe UI"/>
              </a:rPr>
              <a:t>FRESHLENS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403135-3C72-4BC4-971D-7A792841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8E6D9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D8E6D9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252911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2026-10-07T18:59:16.9830000Z</dcterms:created>
  <dcterms:modified xsi:type="dcterms:W3CDTF">2026-10-07T18:59:16.9840000Z</dcterms:modified>
</coreProperties>
</file>